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briefly and state that this is the final presentation for a project built over Weeks 5-8 of the internship, combining a practical tracking tool with two real AI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human and relatable -- describe the everyday experience of applying to many jobs, losing track of what was sent where, and not knowing whether a resume is actually a good match before applying.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the roadmap for the whole talk -- every following slide maps onto one step of this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‘what we built’ summary slide -- a quick preview before going deeper into architecture and each AI feature individually.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every technology listed is actually in use -- nothing here is aspirational. Note that OpenRouter integration uses the standard openai SDK rather than a dedicated OpenRouter package, since none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two flows as parallel: normal CRUD never touches the AI layer at all, and the AI layer is a clean, swappable pipeline. Emphasize that this separation is what let a second AI feature and a second provider be added later without touching the first agent's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the necessary foundation -- the AI features have nothing to analyze without real application data captured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this is a pure database query -- no AI call is involved in detecting staleness; AI only gets involved once the user asks for a follow-up draft.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headline AI slide -- explain that the output isn't 'the model wrote some text we hope is useful,' it's a schema the model is required to fill in, and anything that doesn't match the schema is rejected rather than shown to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safety framing here explicitly: this agent drafts, it never acts. That's a deliberate design choice, not a missing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direct about this distinction if asked -- the code path for OpenRouter is identical to Groq's, it has simply never been exercised against OpenRouter's real API in this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one of the slides worth spending real time on -- it's the difference between 'calling an LLM' and 'building a reliable feature around an LLM.' Walk through one concrete failure path (e.g., a malformed response)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E2E test specifically: it walks a real application through creation, going stale, discovery, and follow-up generation through the actual route/controller/registry chain, with only the AI client mocked.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benchmark numbers are claimed here -- the index is a correct, standard optimization for the query pattern, not a measured before/after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completely direct here if asked: this is implemented but unverified, full stop -- not 'deployed,' not 'working in production.'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as genuine engineering stories, not as criticism of the tools used -- each one was only caught by actually running the project and checking real output, not by reading code and assuming it was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tight -- it's a summary slide, the detail already landed on Slide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Explicitly say these are future work, not partially-done features -- closes the talk honestly and transitions into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Runs on the verified Groq path only -- no dependency on OpenRouter live access. Do not reveal .env contents or API keys on screen at any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601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"/>
              </a:rPr>
              <a:t>JobTrackr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601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BD5E1"/>
                </a:solidFill>
                <a:latin typeface="Segoe UI"/>
              </a:rPr>
              <a:t>AI-Assisted Job Application Tracker &amp; Follow-up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Muhammad Abdullah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  <a:latin typeface="Segoe UI"/>
              </a:rPr>
              <a:t>Arbisoft AI-Focused Internship 2026 — Web Track, 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  <a:latin typeface="Segoe UI"/>
              </a:rPr>
              <a:t>Final Presentation — Week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61320" y="4114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~0.5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2 OF 18  •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2200">
                <a:solidFill>
                  <a:srgbClr val="111827"/>
                </a:solidFill>
                <a:latin typeface="Segoe UI"/>
              </a:rPr>
              <a:t>▸  Job applications pile up fast and become hard to track by hand.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2200">
                <a:solidFill>
                  <a:srgbClr val="111827"/>
                </a:solidFill>
                <a:latin typeface="Segoe UI"/>
              </a:rPr>
              <a:t>▸  Important follow-ups get forgotten once an application goes quiet.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2200">
                <a:solidFill>
                  <a:srgbClr val="111827"/>
                </a:solidFill>
                <a:latin typeface="Segoe UI"/>
              </a:rPr>
              <a:t>▸  Tailoring a resume to each job description takes real time.</a:t>
            </a:r>
          </a:p>
          <a:p>
            <a:pPr>
              <a:lnSpc>
                <a:spcPct val="108000"/>
              </a:lnSpc>
              <a:spcAft>
                <a:spcPts val="2200"/>
              </a:spcAft>
            </a:pPr>
            <a:r>
              <a:rPr sz="2200">
                <a:solidFill>
                  <a:srgbClr val="111827"/>
                </a:solidFill>
                <a:latin typeface="Segoe UI"/>
              </a:rPr>
              <a:t>▸  It's hard to judge how well a resume actually matches a job description.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3 OF 18  •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Project Goal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~0.5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Segoe UI"/>
              </a:rPr>
              <a:t>Goal: one tool that tracks applications AND actively helps with the tedious parts.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467" y="3017520"/>
            <a:ext cx="2286000" cy="11887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Application
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5467" y="3017520"/>
            <a:ext cx="502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8387" y="3017520"/>
            <a:ext cx="2286000" cy="11887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Stale Application
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4387" y="3017520"/>
            <a:ext cx="502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7307" y="3017520"/>
            <a:ext cx="2286000" cy="11887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Resume
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3307" y="3017520"/>
            <a:ext cx="502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6227" y="3017520"/>
            <a:ext cx="2286000" cy="11887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Follow-up
Assistance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4 OF 18  •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Solution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▸  Full Job Application CRUD (create / view / update / delete)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▸  Automatic stale-application detection (7-day rule)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▸  AI Resume Reviewer — match score, missing keywords, suggestions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▸  AI Follow-up Agent — drafts an editable follow-up email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▸  Two AI providers (Groq, OpenRouter) behind one shared abstraction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▸  Structured validation, retry logic, and error handling throughout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5 OF 18  •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~0.5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2072030" cy="3931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3736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563EB"/>
                </a:solidFill>
                <a:latin typeface="Segoe U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8600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Segoe UI"/>
              </a:rPr>
              <a:t>React 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8892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Segoe UI"/>
              </a:rPr>
              <a:t>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57830" y="1600200"/>
            <a:ext cx="2072030" cy="3931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67558" y="173736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563EB"/>
                </a:solidFill>
                <a:latin typeface="Segoe UI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7558" y="228600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Segoe UI"/>
              </a:rPr>
              <a:t>Node.js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7558" y="278892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Segoe UI"/>
              </a:rPr>
              <a:t>Express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8460" y="1600200"/>
            <a:ext cx="2072030" cy="3931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8188" y="173736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563EB"/>
                </a:solidFill>
                <a:latin typeface="Segoe UI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8188" y="228600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Segoe UI"/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8188" y="278892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Segoe UI"/>
              </a:rPr>
              <a:t>Prisma 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59090" y="1600200"/>
            <a:ext cx="2072030" cy="3931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8818" y="173736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563EB"/>
                </a:solidFill>
                <a:latin typeface="Segoe UI"/>
              </a:rPr>
              <a:t>Validation /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8818" y="228600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Segoe UI"/>
              </a:rPr>
              <a:t>Zod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8818" y="278892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Segoe UI"/>
              </a:rPr>
              <a:t>Vitest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8818" y="329184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Segoe UI"/>
              </a:rPr>
              <a:t>Supertest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8818" y="379476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Segoe UI"/>
              </a:rPr>
              <a:t>React Testing Library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59720" y="1600200"/>
            <a:ext cx="2072030" cy="3931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69448" y="173736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563EB"/>
                </a:solidFill>
                <a:latin typeface="Segoe UI"/>
              </a:rPr>
              <a:t>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9448" y="228600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Segoe UI"/>
              </a:rPr>
              <a:t>Groq (groq-sdk)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9448" y="2788920"/>
            <a:ext cx="185257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Segoe UI"/>
              </a:rPr>
              <a:t>OpenRouter (via openai SDK)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6 OF 18  •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~1.5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75569"/>
                </a:solidFill>
                <a:latin typeface="Segoe UI"/>
              </a:rPr>
              <a:t>App 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350" y="178308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"/>
              </a:rPr>
              <a:t>React
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6869" y="1783080"/>
            <a:ext cx="228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55469" y="178308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"/>
              </a:rPr>
              <a:t>REST
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9988" y="1783080"/>
            <a:ext cx="228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8588" y="178308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"/>
              </a:rPr>
              <a:t>Express
Controllers /
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3107" y="1783080"/>
            <a:ext cx="228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1707" y="178308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"/>
              </a:rPr>
              <a:t>Prisma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6226" y="1783080"/>
            <a:ext cx="228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64826" y="178308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632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75569"/>
                </a:solidFill>
                <a:latin typeface="Segoe UI"/>
              </a:rPr>
              <a:t>AI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9487" y="3429000"/>
            <a:ext cx="1600200" cy="109728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9687" y="3429000"/>
            <a:ext cx="14630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75991" y="3429000"/>
            <a:ext cx="1600200" cy="109728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Tool
Registry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6191" y="3429000"/>
            <a:ext cx="14630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2495" y="3429000"/>
            <a:ext cx="1600200" cy="109728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AI
Skill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2695" y="3429000"/>
            <a:ext cx="14630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8999" y="3429000"/>
            <a:ext cx="1600200" cy="109728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Model
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9199" y="3429000"/>
            <a:ext cx="14630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15503" y="3429000"/>
            <a:ext cx="1600200" cy="109728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Provider
Client
(Groq/OpenRouter)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15703" y="3429000"/>
            <a:ext cx="14630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62007" y="3429000"/>
            <a:ext cx="1600200" cy="109728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0F172A"/>
                </a:solidFill>
                <a:latin typeface="Segoe UI"/>
              </a:rPr>
              <a:t>LLM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937760"/>
            <a:ext cx="9994392" cy="8229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138928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475569"/>
                </a:solidFill>
                <a:latin typeface="Segoe UI"/>
              </a:rPr>
              <a:t>Skills never know which provider is active; providers never know which skill called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7 OF 18  •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Core Application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~0.5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2000">
                <a:solidFill>
                  <a:srgbClr val="111827"/>
                </a:solidFill>
                <a:latin typeface="Segoe UI"/>
              </a:rPr>
              <a:t>▸  Create, view, update, delete job applications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2000">
                <a:solidFill>
                  <a:srgbClr val="111827"/>
                </a:solidFill>
                <a:latin typeface="Segoe UI"/>
              </a:rPr>
              <a:t>▸  Tracks company, role, status, date applied, resume version, resume text, job description</a:t>
            </a:r>
          </a:p>
          <a:p>
            <a:pPr>
              <a:lnSpc>
                <a:spcPct val="108000"/>
              </a:lnSpc>
              <a:spcAft>
                <a:spcPts val="2000"/>
              </a:spcAft>
            </a:pPr>
            <a:r>
              <a:rPr sz="2000">
                <a:solidFill>
                  <a:srgbClr val="111827"/>
                </a:solidFill>
                <a:latin typeface="Segoe UI"/>
              </a:rPr>
              <a:t>▸  Zod validation on every write; consistent error responses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8 OF 18  •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Stale Application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~0.5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▸  Rule: an application is stale when dateApplied is strictly older than 7 calendar days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▸  Dedicated GET /api/applications/stale endpoint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▸  Backed by a database index on dateApplied for an efficient date-range query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▸  Returns only the fields needed for the list — no resume text / job description payload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9 OF 18  •  AI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Resume Reviewer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~1.5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0F172A"/>
                </a:solidFill>
                <a:latin typeface="Segoe UI"/>
              </a:rPr>
              <a:t>Resume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0F172A"/>
                </a:solidFill>
                <a:latin typeface="Segoe UI"/>
              </a:rPr>
              <a:t>Job 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828800"/>
            <a:ext cx="6400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1965960"/>
            <a:ext cx="2651760" cy="201168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Resume Reviewer
Agent</a:t>
            </a:r>
          </a:p>
          <a:p>
            <a:pPr algn="ctr"/>
            <a:r>
              <a:rPr sz="1000">
                <a:solidFill>
                  <a:srgbClr val="DBEAFE"/>
                </a:solidFill>
                <a:latin typeface="Segoe UI"/>
              </a:rPr>
              <a:t>Forced tool call
(no free-form chat)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28800"/>
            <a:ext cx="5486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828800"/>
            <a:ext cx="4233672" cy="86868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0F172A"/>
                </a:solidFill>
                <a:latin typeface="Segoe UI"/>
              </a:rPr>
              <a:t>Match Score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/>
              </a:rPr>
              <a:t>0–100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834640"/>
            <a:ext cx="4233672" cy="86868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0F172A"/>
                </a:solidFill>
                <a:latin typeface="Segoe UI"/>
              </a:rPr>
              <a:t>Missing
Keywords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/>
              </a:rPr>
              <a:t>list of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840480"/>
            <a:ext cx="4233672" cy="86868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0F172A"/>
                </a:solidFill>
                <a:latin typeface="Segoe UI"/>
              </a:rPr>
              <a:t>Suggestions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/>
              </a:rPr>
              <a:t>2–3 items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4251960"/>
            <a:ext cx="2651760" cy="59436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43708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92400E"/>
                </a:solidFill>
                <a:latin typeface="Segoe UI"/>
              </a:rPr>
              <a:t>Schema-validated (Zod)</a:t>
            </a:r>
          </a:p>
          <a:p>
            <a:pPr algn="ctr"/>
            <a:r>
              <a:rPr sz="1200" b="1" i="0">
                <a:solidFill>
                  <a:srgbClr val="92400E"/>
                </a:solidFill>
                <a:latin typeface="Segoe UI"/>
              </a:rPr>
              <a:t>before it's ever shown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10 OF 18  •  AI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Follow-up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~1.5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0F172A"/>
                </a:solidFill>
                <a:latin typeface="Segoe UI"/>
              </a:rPr>
              <a:t>Stale Application
Context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/>
              </a:rPr>
              <a:t>company, role,
dateApplied, resumeVersion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86000"/>
            <a:ext cx="5029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286000"/>
            <a:ext cx="2286000" cy="13716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Follow-up
Agent</a:t>
            </a:r>
          </a:p>
          <a:p>
            <a:pPr algn="ctr"/>
            <a:r>
              <a:rPr sz="1000">
                <a:solidFill>
                  <a:srgbClr val="DBEAFE"/>
                </a:solidFill>
                <a:latin typeface="Segoe UI"/>
              </a:rPr>
              <a:t>Never invents facts
it wasn't given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286000"/>
            <a:ext cx="457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28600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0F172A"/>
                </a:solidFill>
                <a:latin typeface="Segoe UI"/>
              </a:rPr>
              <a:t>Subject + Body
Draft</a:t>
            </a:r>
          </a:p>
          <a:p>
            <a:pPr algn="ctr"/>
            <a:r>
              <a:rPr sz="1000">
                <a:solidFill>
                  <a:srgbClr val="475569"/>
                </a:solidFill>
                <a:latin typeface="Segoe UI"/>
              </a:rPr>
              <a:t>Editable in the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286000"/>
            <a:ext cx="4572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2286000"/>
            <a:ext cx="2240280" cy="13716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0F172A"/>
                </a:solidFill>
                <a:latin typeface="Segoe UI"/>
              </a:rPr>
              <a:t>User Reviews
&amp; Sends Manually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4160520"/>
            <a:ext cx="7406640" cy="68580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4315968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DC2626"/>
                </a:solidFill>
                <a:latin typeface="Segoe UI"/>
              </a:rPr>
              <a:t>⚠ Never sent automatically — no email leaves this app on its 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11 OF 18  •  AI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Multi-Model AI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1088136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▸  Shared ModelClient abstraction behind both AI features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▸  Two concrete providers: Groq and OpenRouter, selected via AI_PROVIDER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▸  A model-comparison endpoint sends the same resume-review task to both providers at once and returns both labeled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10908792" cy="16002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4223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2400E"/>
                </a:solidFill>
                <a:latin typeface="Segoe UI"/>
              </a:rPr>
              <a:t>Honest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07992"/>
            <a:ext cx="10332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8350F"/>
                </a:solidFill>
                <a:latin typeface="Segoe UI"/>
              </a:rPr>
              <a:t>Groq has been used with a real API key.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8350F"/>
                </a:solidFill>
                <a:latin typeface="Segoe UI"/>
              </a:rPr>
              <a:t>OpenRouter has been implemented and tested with mocks only — no real OpenRouter API key was available to verify a live call.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12 OF 18  •  TESTING /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Reliability &amp;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~1.5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0F172A"/>
                </a:solidFill>
                <a:latin typeface="Segoe UI"/>
              </a:rPr>
              <a:t>AI Provider
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508760"/>
            <a:ext cx="457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0876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Zod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365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2971800"/>
            <a:ext cx="2926080" cy="6858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0F172A"/>
                </a:solidFill>
                <a:latin typeface="Segoe UI"/>
              </a:rPr>
              <a:t>Valid → Return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971800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0F172A"/>
                </a:solidFill>
                <a:latin typeface="Segoe UI"/>
              </a:rPr>
              <a:t>Invalid → 502 Error, No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77639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75569"/>
                </a:solidFill>
                <a:latin typeface="Segoe UI"/>
              </a:rPr>
              <a:t>Retry (per provider call only)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487" y="429768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"/>
              </a:rPr>
              <a:t>Provider
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6927" y="4297680"/>
            <a:ext cx="274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81247" y="429768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"/>
              </a:rPr>
              <a:t>Transient?
(429 / 5xx /
connection)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8687" y="4297680"/>
            <a:ext cx="274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429768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"/>
              </a:rPr>
              <a:t>Retry once
(max 2 total)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0447" y="4297680"/>
            <a:ext cx="274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4767" y="429768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F172A"/>
                </a:solidFill>
                <a:latin typeface="Segoe UI"/>
              </a:rPr>
              <a:t>Success
or Fail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475569"/>
                </a:solidFill>
                <a:latin typeface="Segoe UI"/>
              </a:rPr>
              <a:t>Non-retryable: bad API key, bad request, or a schema-invalid response — retrying wouldn't fix a bad prompt/schema. AI output is treated as untrusted until validated.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13 OF 18  •  TESTING /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~0.5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3514344" cy="13716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3000" b="1">
                <a:solidFill>
                  <a:srgbClr val="0F172A"/>
                </a:solidFill>
                <a:latin typeface="Segoe UI"/>
              </a:rPr>
              <a:t>103/103</a:t>
            </a:r>
          </a:p>
          <a:p>
            <a:pPr algn="ctr"/>
            <a:r>
              <a:rPr sz="1400">
                <a:solidFill>
                  <a:srgbClr val="475569"/>
                </a:solidFill>
                <a:latin typeface="Segoe UI"/>
              </a:rPr>
              <a:t>Backend tests passing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304" y="1508760"/>
            <a:ext cx="3514344" cy="13716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3000" b="1">
                <a:solidFill>
                  <a:srgbClr val="0F172A"/>
                </a:solidFill>
                <a:latin typeface="Segoe UI"/>
              </a:rPr>
              <a:t>36/36</a:t>
            </a:r>
          </a:p>
          <a:p>
            <a:pPr algn="ctr"/>
            <a:r>
              <a:rPr sz="1400">
                <a:solidFill>
                  <a:srgbClr val="475569"/>
                </a:solidFill>
                <a:latin typeface="Segoe UI"/>
              </a:rPr>
              <a:t>Frontend tests passing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7408" y="1508760"/>
            <a:ext cx="3514344" cy="13716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3000" b="1">
                <a:solidFill>
                  <a:srgbClr val="0F172A"/>
                </a:solidFill>
                <a:latin typeface="Segoe UI"/>
              </a:rPr>
              <a:t>139/139</a:t>
            </a:r>
          </a:p>
          <a:p>
            <a:pPr algn="ctr"/>
            <a:r>
              <a:rPr sz="1400">
                <a:solidFill>
                  <a:srgbClr val="475569"/>
                </a:solidFill>
                <a:latin typeface="Segoe UI"/>
              </a:rPr>
              <a:t>Total tests passing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75569"/>
                </a:solidFill>
                <a:latin typeface="Segoe UI"/>
              </a:rPr>
              <a:t>Coverage areas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1277233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F172A"/>
                </a:solidFill>
                <a:latin typeface="Segoe UI"/>
              </a:rPr>
              <a:t>CRUD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17313" y="3657600"/>
            <a:ext cx="1520647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F172A"/>
                </a:solidFill>
                <a:latin typeface="Segoe UI"/>
              </a:rPr>
              <a:t>Stale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20840" y="3657600"/>
            <a:ext cx="1520647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F172A"/>
                </a:solidFill>
                <a:latin typeface="Segoe UI"/>
              </a:rPr>
              <a:t>Resume Reviewer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24367" y="3657600"/>
            <a:ext cx="1520647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F172A"/>
                </a:solidFill>
                <a:latin typeface="Segoe UI"/>
              </a:rPr>
              <a:t>Follow-up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27894" y="3657600"/>
            <a:ext cx="1542775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F172A"/>
                </a:solidFill>
                <a:latin typeface="Segoe UI"/>
              </a:rPr>
              <a:t>Provider Routing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3549" y="3657600"/>
            <a:ext cx="1432133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F172A"/>
                </a:solidFill>
                <a:latin typeface="Segoe UI"/>
              </a:rPr>
              <a:t>Retry Logic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97680"/>
            <a:ext cx="1542775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F172A"/>
                </a:solidFill>
                <a:latin typeface="Segoe UI"/>
              </a:rPr>
              <a:t>Model Comparison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82855" y="4297680"/>
            <a:ext cx="1454261" cy="5029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0F172A"/>
                </a:solidFill>
                <a:latin typeface="Segoe UI"/>
              </a:rPr>
              <a:t>E2E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Segoe UI"/>
              </a:rPr>
              <a:t>No automated test ever calls a real AI provider — both providers are mocked at the client boundary.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14 OF 18  •  TESTING /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Performance &amp; Engineering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~0.5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▸  Added a database index on dateApplied for the stale-application query (filter + sort)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▸  Clean separation between provider clients, skills, and controllers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▸  Consistent Zod validation and error handling across every endpoint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900">
                <a:solidFill>
                  <a:srgbClr val="111827"/>
                </a:solidFill>
                <a:latin typeface="Segoe UI"/>
              </a:rPr>
              <a:t>▸  Frontend kept intentionally lightweight — no unnecessary libraries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15 OF 18  •  TESTING /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Docker / Deployment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~0.5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1088136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▸  Dockerfiles for backend and frontend, plus a docker-compose.yml (PostgreSQL + backend + nginx-served frontend), are implemented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▸  Configuration follows standard, well-established patterns for this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10908792" cy="173736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2400E"/>
                </a:solidFill>
                <a:latin typeface="Segoe UI"/>
              </a:rPr>
              <a:t>Honest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78350F"/>
                </a:solidFill>
                <a:latin typeface="Segoe UI"/>
              </a:rPr>
              <a:t>Docker was NOT available in the development environment — the containers were never actually built or run.</a:t>
            </a:r>
          </a:p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78350F"/>
                </a:solidFill>
                <a:latin typeface="Segoe UI"/>
              </a:rPr>
              <a:t>This is a real, open item, not a completed deployment.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16 OF 18  • 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Challenges &amp; AI Lessons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~1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▸  A test mock didn't actually intercept a real API call — caught by an unexpected real network request during testing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▸  A model referenced in documentation had actually been retired — only found by querying the provider's live model list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▸  An environment-variable leak (via dotenv) let a ‘not configured’ test make a real network call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▸  Documentation silently drifted from the implementation for a time (a feature was marked ‘not built’ after it was actually built)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▸  Lesson: AI-generated work is only as trustworthy as the verification behind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17 OF 18  • 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What I Learned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~0.5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88136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▸  Agentic AI architecture: tools/skills, structured output, provider abstraction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▸  AI-assisted development speeds up implementation but not verification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▸  Backend/API engineering: validation boundaries, consistent error handling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▸  Testing AI-generated code requires mocking at the right boundary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▸  Human-in-the-loop review is what actually keeps an AI-assisted project correct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3C5FD"/>
                </a:solidFill>
                <a:latin typeface="Segoe UI"/>
              </a:rPr>
              <a:t>SLIDE 18 OF 18  •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Conclusion / Future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4747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~0.5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10528"/>
            <a:ext cx="1127455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JobTrackr — AI-Assisted Job Application Tracker &amp; Follow-up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305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Segoe UI"/>
              </a:rPr>
              <a:t>Muhammad Abdullah •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88136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▸  JobTrackr combines practical application tracking with real AI assistance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▸  Reliability and validation were treated as first-class concerns, not an afterthought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80360"/>
            <a:ext cx="10908792" cy="3246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Future work (not yet implemented)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1005840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▸  Actual cloud deployment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▸  Live OpenRouter verification with a real API key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▸  Authentication / authorization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▸  Persisted AI analysis history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▸  Richer dashboard / analytics, pagination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▸  Further frontend polish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DBEAFE"/>
                </a:solidFill>
                <a:latin typeface="Segoe UI"/>
              </a:rPr>
              <a:t>SUPPLEMENTARY — NOT ONE OF THE 18 MAIN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5-Minute Live Demo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1320" y="3657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~5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554480" cy="7315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0:00–0:30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508760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Introduce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508760"/>
            <a:ext cx="6903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Briefly restate the scenario: applications pile up, follow-ups get forgotten, resume fit is hard to judge.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13432"/>
            <a:ext cx="1554480" cy="7315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0:30–1:15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313432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Show JobTrackr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313432"/>
            <a:ext cx="6903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Open the running app, show the main application list and the Add Application 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18104"/>
            <a:ext cx="1554480" cy="7315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1:15–2:30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118104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Resume Reviewer (verified Groq path)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118104"/>
            <a:ext cx="6903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Select an application, click Analyze Fit, show match score, missing keywords, suggestions.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22776"/>
            <a:ext cx="1554480" cy="7315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2:30–3:45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922776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Follow-up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922776"/>
            <a:ext cx="6903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Select a stale application, generate a follow-up, show the editable subject/body. Never sent automatically.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27448"/>
            <a:ext cx="1554480" cy="7315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3:45–4:30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727448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Reliability /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727448"/>
            <a:ext cx="6903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Note every AI response was schema-validated, and the same flow can run through either provider via one switch.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32120"/>
            <a:ext cx="1554480" cy="7315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4:30–5:00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532120"/>
            <a:ext cx="2468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Close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5532120"/>
            <a:ext cx="6903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BD5E1"/>
                </a:solidFill>
                <a:latin typeface="Segoe UI"/>
              </a:rPr>
              <a:t>Summarize: one tool, two real AI features, validated and retried reliably, nothing sent automatically.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  <a:latin typeface="Segoe UI"/>
              </a:rPr>
              <a:t>Runs on the verified Groq path only. No .env content or API keys are shown on screen at any 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